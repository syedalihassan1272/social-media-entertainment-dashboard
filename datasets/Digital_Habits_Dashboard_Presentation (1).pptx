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3" r:id="rId6"/>
    <p:sldId id="264" r:id="rId7"/>
    <p:sldId id="265" r:id="rId8"/>
    <p:sldId id="260" r:id="rId9"/>
    <p:sldId id="261" r:id="rId10"/>
    <p:sldId id="262"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1320"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546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7501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712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2440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3544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5081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8970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122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4041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22341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42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159328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8920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62293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5557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7112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7983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2/10/2025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82007808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dirty="0"/>
              <a:t>Digital Habits Analysis Dashboard</a:t>
            </a:r>
          </a:p>
        </p:txBody>
      </p:sp>
      <p:sp>
        <p:nvSpPr>
          <p:cNvPr id="3" name="Subtitle 2"/>
          <p:cNvSpPr>
            <a:spLocks noGrp="1"/>
          </p:cNvSpPr>
          <p:nvPr>
            <p:ph type="subTitle" idx="1"/>
          </p:nvPr>
        </p:nvSpPr>
        <p:spPr/>
        <p:txBody>
          <a:bodyPr>
            <a:normAutofit/>
          </a:bodyPr>
          <a:lstStyle/>
          <a:p>
            <a:r>
              <a:rPr sz="2400" b="1" dirty="0">
                <a:solidFill>
                  <a:schemeClr val="tx1">
                    <a:lumMod val="75000"/>
                    <a:lumOff val="25000"/>
                  </a:schemeClr>
                </a:solidFill>
              </a:rPr>
              <a:t>Using Pandas, </a:t>
            </a:r>
            <a:r>
              <a:rPr sz="2400" b="1" dirty="0" err="1">
                <a:solidFill>
                  <a:schemeClr val="tx1">
                    <a:lumMod val="75000"/>
                    <a:lumOff val="25000"/>
                  </a:schemeClr>
                </a:solidFill>
              </a:rPr>
              <a:t>NumPy</a:t>
            </a:r>
            <a:r>
              <a:rPr sz="2400" b="1" dirty="0">
                <a:solidFill>
                  <a:schemeClr val="tx1">
                    <a:lumMod val="75000"/>
                    <a:lumOff val="25000"/>
                  </a:schemeClr>
                </a:solidFill>
              </a:rPr>
              <a:t>, </a:t>
            </a:r>
            <a:r>
              <a:rPr sz="2400" b="1" dirty="0" err="1">
                <a:solidFill>
                  <a:schemeClr val="tx1">
                    <a:lumMod val="75000"/>
                    <a:lumOff val="25000"/>
                  </a:schemeClr>
                </a:solidFill>
              </a:rPr>
              <a:t>Streamlit</a:t>
            </a:r>
            <a:r>
              <a:rPr sz="2400" b="1" dirty="0">
                <a:solidFill>
                  <a:schemeClr val="tx1">
                    <a:lumMod val="75000"/>
                    <a:lumOff val="25000"/>
                  </a:schemeClr>
                </a:solidFill>
              </a:rPr>
              <a:t>, </a:t>
            </a:r>
            <a:r>
              <a:rPr sz="2400" b="1" dirty="0" err="1">
                <a:solidFill>
                  <a:schemeClr val="tx1">
                    <a:lumMod val="75000"/>
                    <a:lumOff val="25000"/>
                  </a:schemeClr>
                </a:solidFill>
              </a:rPr>
              <a:t>Matplotlib</a:t>
            </a:r>
            <a:r>
              <a:rPr sz="2400" b="1" dirty="0">
                <a:solidFill>
                  <a:schemeClr val="tx1">
                    <a:lumMod val="75000"/>
                    <a:lumOff val="25000"/>
                  </a:schemeClr>
                </a:solidFill>
              </a:rPr>
              <a:t>, and </a:t>
            </a:r>
            <a:r>
              <a:rPr sz="2400" b="1" dirty="0" err="1">
                <a:solidFill>
                  <a:schemeClr val="tx1">
                    <a:lumMod val="75000"/>
                    <a:lumOff val="25000"/>
                  </a:schemeClr>
                </a:solidFill>
              </a:rPr>
              <a:t>Seaborn</a:t>
            </a:r>
            <a:endParaRPr sz="2400" b="1" dirty="0">
              <a:solidFill>
                <a:schemeClr val="tx1">
                  <a:lumMod val="75000"/>
                  <a:lumOff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Project Overview</a:t>
            </a:r>
          </a:p>
        </p:txBody>
      </p:sp>
      <p:sp>
        <p:nvSpPr>
          <p:cNvPr id="3" name="Content Placeholder 2"/>
          <p:cNvSpPr>
            <a:spLocks noGrp="1"/>
          </p:cNvSpPr>
          <p:nvPr>
            <p:ph idx="1"/>
          </p:nvPr>
        </p:nvSpPr>
        <p:spPr/>
        <p:txBody>
          <a:bodyPr/>
          <a:lstStyle/>
          <a:p>
            <a:r>
              <a:rPr dirty="0"/>
              <a:t>This project analyzes the digital habits of 300,000 individuals, focusing on social media usage, entertainment consumption, and overall screen time. Using data visualization and analysis, we aim to uncover trends and insights into digital well-being.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Dataset Description</a:t>
            </a:r>
          </a:p>
        </p:txBody>
      </p:sp>
      <p:sp>
        <p:nvSpPr>
          <p:cNvPr id="3" name="Content Placeholder 2"/>
          <p:cNvSpPr>
            <a:spLocks noGrp="1"/>
          </p:cNvSpPr>
          <p:nvPr>
            <p:ph idx="1"/>
          </p:nvPr>
        </p:nvSpPr>
        <p:spPr/>
        <p:txBody>
          <a:bodyPr/>
          <a:lstStyle/>
          <a:p>
            <a:r>
              <a:t>The dataset includes information on age, gender, occupation, income, digital screen time, social media engagement, and entertainment expenditure. Key variables help us understand user behavior and digital well-being.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Key Selected Columns</a:t>
            </a:r>
          </a:p>
        </p:txBody>
      </p:sp>
      <p:sp>
        <p:nvSpPr>
          <p:cNvPr id="3" name="Content Placeholder 2"/>
          <p:cNvSpPr>
            <a:spLocks noGrp="1"/>
          </p:cNvSpPr>
          <p:nvPr>
            <p:ph idx="1"/>
          </p:nvPr>
        </p:nvSpPr>
        <p:spPr/>
        <p:txBody>
          <a:bodyPr>
            <a:normAutofit/>
          </a:bodyPr>
          <a:lstStyle/>
          <a:p>
            <a:r>
              <a:rPr dirty="0"/>
              <a:t>• </a:t>
            </a:r>
            <a:r>
              <a:rPr b="1" dirty="0"/>
              <a:t>Age – </a:t>
            </a:r>
            <a:r>
              <a:rPr dirty="0"/>
              <a:t>Analyzing digital habits across different age groups</a:t>
            </a:r>
          </a:p>
          <a:p>
            <a:r>
              <a:rPr dirty="0"/>
              <a:t>• </a:t>
            </a:r>
            <a:r>
              <a:rPr b="1" dirty="0"/>
              <a:t>Gender – </a:t>
            </a:r>
            <a:r>
              <a:rPr dirty="0"/>
              <a:t>Understanding differences in social media usage</a:t>
            </a:r>
          </a:p>
          <a:p>
            <a:r>
              <a:rPr dirty="0"/>
              <a:t>• </a:t>
            </a:r>
            <a:r>
              <a:rPr b="1" dirty="0"/>
              <a:t>Country – </a:t>
            </a:r>
            <a:r>
              <a:rPr dirty="0"/>
              <a:t>Identifying digital behavior trends across regions</a:t>
            </a:r>
          </a:p>
          <a:p>
            <a:r>
              <a:rPr b="1" dirty="0"/>
              <a:t>• Daily Social Media &amp; Entertainment Time – </a:t>
            </a:r>
            <a:r>
              <a:rPr dirty="0"/>
              <a:t>Measuring digital engagement</a:t>
            </a:r>
          </a:p>
          <a:p>
            <a:r>
              <a:rPr dirty="0"/>
              <a:t>• </a:t>
            </a:r>
            <a:r>
              <a:rPr b="1" dirty="0"/>
              <a:t>Social Media Platforms Used &amp; Primary Platform – </a:t>
            </a:r>
            <a:r>
              <a:rPr dirty="0"/>
              <a:t>Popular platform </a:t>
            </a:r>
            <a:r>
              <a:rPr dirty="0" smtClean="0"/>
              <a:t>insights</a:t>
            </a: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0103" y="206477"/>
            <a:ext cx="6931742" cy="6555641"/>
          </a:xfrm>
          <a:prstGeom prst="rect">
            <a:avLst/>
          </a:prstGeom>
        </p:spPr>
        <p:txBody>
          <a:bodyPr wrap="square">
            <a:spAutoFit/>
          </a:bodyPr>
          <a:lstStyle/>
          <a:p>
            <a:r>
              <a:rPr lang="en-US" sz="2000" dirty="0"/>
              <a:t>• </a:t>
            </a:r>
            <a:r>
              <a:rPr lang="en-US" sz="2800" b="1" dirty="0"/>
              <a:t>Occupation &amp; Monthly Income – </a:t>
            </a:r>
            <a:r>
              <a:rPr lang="en-US" sz="2800" dirty="0"/>
              <a:t>Financial impact on digital </a:t>
            </a:r>
            <a:r>
              <a:rPr lang="en-US" sz="2800" dirty="0" smtClean="0"/>
              <a:t>habits</a:t>
            </a:r>
          </a:p>
          <a:p>
            <a:endParaRPr lang="en-US" sz="2800" dirty="0"/>
          </a:p>
          <a:p>
            <a:r>
              <a:rPr lang="en-US" sz="2800" dirty="0"/>
              <a:t>• </a:t>
            </a:r>
            <a:r>
              <a:rPr lang="en-US" sz="2800" b="1" dirty="0"/>
              <a:t>Device Type – </a:t>
            </a:r>
            <a:r>
              <a:rPr lang="en-US" sz="2800" dirty="0"/>
              <a:t>Impact of device choice on screen </a:t>
            </a:r>
            <a:r>
              <a:rPr lang="en-US" sz="2800" dirty="0" smtClean="0"/>
              <a:t>time</a:t>
            </a:r>
          </a:p>
          <a:p>
            <a:endParaRPr lang="en-US" sz="2800" dirty="0"/>
          </a:p>
          <a:p>
            <a:r>
              <a:rPr lang="en-US" sz="2800" dirty="0"/>
              <a:t>• </a:t>
            </a:r>
            <a:r>
              <a:rPr lang="en-US" sz="2800" b="1" dirty="0"/>
              <a:t>Social Media Fatigue &amp; Digital Well-being Awareness – </a:t>
            </a:r>
            <a:r>
              <a:rPr lang="en-US" sz="2800" dirty="0"/>
              <a:t>Mental health </a:t>
            </a:r>
            <a:r>
              <a:rPr lang="en-US" sz="2800" dirty="0" smtClean="0"/>
              <a:t> insights</a:t>
            </a:r>
          </a:p>
          <a:p>
            <a:endParaRPr lang="en-US" sz="2800" dirty="0"/>
          </a:p>
          <a:p>
            <a:r>
              <a:rPr lang="en-US" sz="2800" dirty="0"/>
              <a:t>• </a:t>
            </a:r>
            <a:r>
              <a:rPr lang="en-US" sz="2800" b="1" dirty="0"/>
              <a:t>Tech Savviness – </a:t>
            </a:r>
            <a:r>
              <a:rPr lang="en-US" sz="2800" dirty="0"/>
              <a:t>Evaluating technology adoption </a:t>
            </a:r>
            <a:r>
              <a:rPr lang="en-US" sz="2800" dirty="0" smtClean="0"/>
              <a:t>trends</a:t>
            </a:r>
          </a:p>
          <a:p>
            <a:endParaRPr lang="en-US" sz="2800" dirty="0"/>
          </a:p>
          <a:p>
            <a:r>
              <a:rPr lang="en-US" sz="2800" dirty="0"/>
              <a:t>• </a:t>
            </a:r>
            <a:r>
              <a:rPr lang="en-US" sz="2800" b="1" dirty="0"/>
              <a:t>Monthly Expenditure on Entertainment – </a:t>
            </a:r>
            <a:r>
              <a:rPr lang="en-US" sz="2800" dirty="0"/>
              <a:t>Spending patterns</a:t>
            </a:r>
            <a:endParaRPr lang="en-US" sz="2400" dirty="0"/>
          </a:p>
        </p:txBody>
      </p:sp>
    </p:spTree>
    <p:extLst>
      <p:ext uri="{BB962C8B-B14F-4D97-AF65-F5344CB8AC3E}">
        <p14:creationId xmlns:p14="http://schemas.microsoft.com/office/powerpoint/2010/main" val="39966248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05806380"/>
              </p:ext>
            </p:extLst>
          </p:nvPr>
        </p:nvGraphicFramePr>
        <p:xfrm>
          <a:off x="240890" y="154858"/>
          <a:ext cx="8229600" cy="6461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3840166827"/>
                    </a:ext>
                  </a:extLst>
                </a:gridCol>
                <a:gridCol w="5486400">
                  <a:extLst>
                    <a:ext uri="{9D8B030D-6E8A-4147-A177-3AD203B41FA5}">
                      <a16:colId xmlns:a16="http://schemas.microsoft.com/office/drawing/2014/main" val="2493821781"/>
                    </a:ext>
                  </a:extLst>
                </a:gridCol>
              </a:tblGrid>
              <a:tr h="285750">
                <a:tc>
                  <a:txBody>
                    <a:bodyPr/>
                    <a:lstStyle/>
                    <a:p>
                      <a:r>
                        <a:rPr sz="2000" dirty="0"/>
                        <a:t>Column Name</a:t>
                      </a:r>
                    </a:p>
                  </a:txBody>
                  <a:tcPr/>
                </a:tc>
                <a:tc>
                  <a:txBody>
                    <a:bodyPr/>
                    <a:lstStyle/>
                    <a:p>
                      <a:r>
                        <a:rPr sz="2000" dirty="0"/>
                        <a:t>Description</a:t>
                      </a:r>
                    </a:p>
                  </a:txBody>
                  <a:tcPr/>
                </a:tc>
                <a:extLst>
                  <a:ext uri="{0D108BD9-81ED-4DB2-BD59-A6C34878D82A}">
                    <a16:rowId xmlns:a16="http://schemas.microsoft.com/office/drawing/2014/main" val="3669780985"/>
                  </a:ext>
                </a:extLst>
              </a:tr>
              <a:tr h="285750">
                <a:tc>
                  <a:txBody>
                    <a:bodyPr/>
                    <a:lstStyle/>
                    <a:p>
                      <a:r>
                        <a:rPr sz="2000" b="1" dirty="0"/>
                        <a:t>Age</a:t>
                      </a:r>
                    </a:p>
                  </a:txBody>
                  <a:tcPr/>
                </a:tc>
                <a:tc>
                  <a:txBody>
                    <a:bodyPr/>
                    <a:lstStyle/>
                    <a:p>
                      <a:r>
                        <a:rPr sz="1800" b="1" i="1" dirty="0"/>
                        <a:t>The age of the individual, helping to analyze digital habits across different age groups.</a:t>
                      </a:r>
                    </a:p>
                  </a:txBody>
                  <a:tcPr/>
                </a:tc>
                <a:extLst>
                  <a:ext uri="{0D108BD9-81ED-4DB2-BD59-A6C34878D82A}">
                    <a16:rowId xmlns:a16="http://schemas.microsoft.com/office/drawing/2014/main" val="2263789648"/>
                  </a:ext>
                </a:extLst>
              </a:tr>
              <a:tr h="285750">
                <a:tc>
                  <a:txBody>
                    <a:bodyPr/>
                    <a:lstStyle/>
                    <a:p>
                      <a:r>
                        <a:rPr sz="2000" b="1" dirty="0"/>
                        <a:t>Gender</a:t>
                      </a:r>
                    </a:p>
                  </a:txBody>
                  <a:tcPr/>
                </a:tc>
                <a:tc>
                  <a:txBody>
                    <a:bodyPr/>
                    <a:lstStyle/>
                    <a:p>
                      <a:r>
                        <a:rPr sz="1800" b="1" i="1" dirty="0"/>
                        <a:t>Gender of the individual (Male/Female/Other), useful for understanding differences in digital behavior.</a:t>
                      </a:r>
                    </a:p>
                  </a:txBody>
                  <a:tcPr/>
                </a:tc>
                <a:extLst>
                  <a:ext uri="{0D108BD9-81ED-4DB2-BD59-A6C34878D82A}">
                    <a16:rowId xmlns:a16="http://schemas.microsoft.com/office/drawing/2014/main" val="3835718645"/>
                  </a:ext>
                </a:extLst>
              </a:tr>
              <a:tr h="285750">
                <a:tc>
                  <a:txBody>
                    <a:bodyPr/>
                    <a:lstStyle/>
                    <a:p>
                      <a:r>
                        <a:rPr sz="2000" b="1" dirty="0"/>
                        <a:t>Country</a:t>
                      </a:r>
                    </a:p>
                  </a:txBody>
                  <a:tcPr/>
                </a:tc>
                <a:tc>
                  <a:txBody>
                    <a:bodyPr/>
                    <a:lstStyle/>
                    <a:p>
                      <a:r>
                        <a:rPr sz="1800" b="1" i="1" dirty="0"/>
                        <a:t>Country of residence, which allows us to compare digital habits globally.</a:t>
                      </a:r>
                    </a:p>
                  </a:txBody>
                  <a:tcPr/>
                </a:tc>
                <a:extLst>
                  <a:ext uri="{0D108BD9-81ED-4DB2-BD59-A6C34878D82A}">
                    <a16:rowId xmlns:a16="http://schemas.microsoft.com/office/drawing/2014/main" val="4284140242"/>
                  </a:ext>
                </a:extLst>
              </a:tr>
              <a:tr h="285750">
                <a:tc>
                  <a:txBody>
                    <a:bodyPr/>
                    <a:lstStyle/>
                    <a:p>
                      <a:r>
                        <a:rPr sz="2000" b="1" dirty="0"/>
                        <a:t>Daily Social Media Time (</a:t>
                      </a:r>
                      <a:r>
                        <a:rPr sz="2000" b="1" dirty="0" err="1"/>
                        <a:t>hrs</a:t>
                      </a:r>
                      <a:r>
                        <a:rPr sz="2000" b="1" dirty="0"/>
                        <a:t>)</a:t>
                      </a:r>
                    </a:p>
                  </a:txBody>
                  <a:tcPr/>
                </a:tc>
                <a:tc>
                  <a:txBody>
                    <a:bodyPr/>
                    <a:lstStyle/>
                    <a:p>
                      <a:r>
                        <a:rPr sz="1800" b="1" i="1" dirty="0"/>
                        <a:t>The average time (in hours) a person spends on social media platforms daily.</a:t>
                      </a:r>
                    </a:p>
                  </a:txBody>
                  <a:tcPr/>
                </a:tc>
                <a:extLst>
                  <a:ext uri="{0D108BD9-81ED-4DB2-BD59-A6C34878D82A}">
                    <a16:rowId xmlns:a16="http://schemas.microsoft.com/office/drawing/2014/main" val="2628555704"/>
                  </a:ext>
                </a:extLst>
              </a:tr>
              <a:tr h="285750">
                <a:tc>
                  <a:txBody>
                    <a:bodyPr/>
                    <a:lstStyle/>
                    <a:p>
                      <a:r>
                        <a:rPr sz="2000" b="1" dirty="0"/>
                        <a:t>Daily Entertainment Time (</a:t>
                      </a:r>
                      <a:r>
                        <a:rPr sz="2000" b="1" dirty="0" err="1"/>
                        <a:t>hrs</a:t>
                      </a:r>
                      <a:r>
                        <a:rPr sz="2000" b="1" dirty="0"/>
                        <a:t>)</a:t>
                      </a:r>
                    </a:p>
                  </a:txBody>
                  <a:tcPr/>
                </a:tc>
                <a:tc>
                  <a:txBody>
                    <a:bodyPr/>
                    <a:lstStyle/>
                    <a:p>
                      <a:r>
                        <a:rPr sz="1800" b="1" i="1" dirty="0"/>
                        <a:t>The average time (in hours) spent on entertainment platforms like YouTube, Netflix, and other streaming services.</a:t>
                      </a:r>
                    </a:p>
                  </a:txBody>
                  <a:tcPr/>
                </a:tc>
                <a:extLst>
                  <a:ext uri="{0D108BD9-81ED-4DB2-BD59-A6C34878D82A}">
                    <a16:rowId xmlns:a16="http://schemas.microsoft.com/office/drawing/2014/main" val="3288397939"/>
                  </a:ext>
                </a:extLst>
              </a:tr>
              <a:tr h="285750">
                <a:tc>
                  <a:txBody>
                    <a:bodyPr/>
                    <a:lstStyle/>
                    <a:p>
                      <a:r>
                        <a:rPr sz="2000" b="1" dirty="0"/>
                        <a:t>Social Media Platforms Used</a:t>
                      </a:r>
                    </a:p>
                  </a:txBody>
                  <a:tcPr/>
                </a:tc>
                <a:tc>
                  <a:txBody>
                    <a:bodyPr/>
                    <a:lstStyle/>
                    <a:p>
                      <a:r>
                        <a:rPr sz="1800" b="1" i="1" dirty="0"/>
                        <a:t>The number of social media platforms an individual interacts with daily.</a:t>
                      </a:r>
                    </a:p>
                  </a:txBody>
                  <a:tcPr/>
                </a:tc>
                <a:extLst>
                  <a:ext uri="{0D108BD9-81ED-4DB2-BD59-A6C34878D82A}">
                    <a16:rowId xmlns:a16="http://schemas.microsoft.com/office/drawing/2014/main" val="1096894641"/>
                  </a:ext>
                </a:extLst>
              </a:tr>
              <a:tr h="285750">
                <a:tc>
                  <a:txBody>
                    <a:bodyPr/>
                    <a:lstStyle/>
                    <a:p>
                      <a:r>
                        <a:rPr sz="2000" b="1" dirty="0"/>
                        <a:t>Primary Platform</a:t>
                      </a:r>
                    </a:p>
                  </a:txBody>
                  <a:tcPr/>
                </a:tc>
                <a:tc>
                  <a:txBody>
                    <a:bodyPr/>
                    <a:lstStyle/>
                    <a:p>
                      <a:r>
                        <a:rPr sz="1800" b="1" i="1" dirty="0"/>
                        <a:t>The most frequently used social media platform (e.g., Instagram, Facebook, </a:t>
                      </a:r>
                      <a:r>
                        <a:rPr sz="1800" b="1" i="1" dirty="0" err="1"/>
                        <a:t>TikTok</a:t>
                      </a:r>
                      <a:r>
                        <a:rPr sz="1800" b="1" i="1" dirty="0"/>
                        <a:t>).</a:t>
                      </a:r>
                    </a:p>
                  </a:txBody>
                  <a:tcPr/>
                </a:tc>
                <a:extLst>
                  <a:ext uri="{0D108BD9-81ED-4DB2-BD59-A6C34878D82A}">
                    <a16:rowId xmlns:a16="http://schemas.microsoft.com/office/drawing/2014/main" val="2972516110"/>
                  </a:ext>
                </a:extLst>
              </a:tr>
              <a:tr h="285750">
                <a:tc>
                  <a:txBody>
                    <a:bodyPr/>
                    <a:lstStyle/>
                    <a:p>
                      <a:r>
                        <a:rPr sz="2000" b="1" dirty="0"/>
                        <a:t>Occupation</a:t>
                      </a:r>
                    </a:p>
                  </a:txBody>
                  <a:tcPr/>
                </a:tc>
                <a:tc>
                  <a:txBody>
                    <a:bodyPr/>
                    <a:lstStyle/>
                    <a:p>
                      <a:r>
                        <a:rPr sz="1800" b="1" i="1" dirty="0"/>
                        <a:t>The person’s job role (e.g., Student, Professional, Unemployed) to compare screen time among different work categories.</a:t>
                      </a:r>
                    </a:p>
                  </a:txBody>
                  <a:tcPr/>
                </a:tc>
                <a:extLst>
                  <a:ext uri="{0D108BD9-81ED-4DB2-BD59-A6C34878D82A}">
                    <a16:rowId xmlns:a16="http://schemas.microsoft.com/office/drawing/2014/main" val="77300333"/>
                  </a:ext>
                </a:extLst>
              </a:tr>
            </a:tbl>
          </a:graphicData>
        </a:graphic>
      </p:graphicFrame>
    </p:spTree>
    <p:extLst>
      <p:ext uri="{BB962C8B-B14F-4D97-AF65-F5344CB8AC3E}">
        <p14:creationId xmlns:p14="http://schemas.microsoft.com/office/powerpoint/2010/main" val="28223536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39539948"/>
              </p:ext>
            </p:extLst>
          </p:nvPr>
        </p:nvGraphicFramePr>
        <p:xfrm>
          <a:off x="457199" y="345603"/>
          <a:ext cx="8229600" cy="53644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822655395"/>
                    </a:ext>
                  </a:extLst>
                </a:gridCol>
                <a:gridCol w="5486400">
                  <a:extLst>
                    <a:ext uri="{9D8B030D-6E8A-4147-A177-3AD203B41FA5}">
                      <a16:colId xmlns:a16="http://schemas.microsoft.com/office/drawing/2014/main" val="3894973619"/>
                    </a:ext>
                  </a:extLst>
                </a:gridCol>
              </a:tblGrid>
              <a:tr h="285750">
                <a:tc>
                  <a:txBody>
                    <a:bodyPr/>
                    <a:lstStyle/>
                    <a:p>
                      <a:r>
                        <a:rPr sz="2000" dirty="0"/>
                        <a:t>Column Name</a:t>
                      </a:r>
                    </a:p>
                  </a:txBody>
                  <a:tcPr/>
                </a:tc>
                <a:tc>
                  <a:txBody>
                    <a:bodyPr/>
                    <a:lstStyle/>
                    <a:p>
                      <a:r>
                        <a:rPr sz="2000" dirty="0"/>
                        <a:t>Description</a:t>
                      </a:r>
                    </a:p>
                  </a:txBody>
                  <a:tcPr/>
                </a:tc>
                <a:extLst>
                  <a:ext uri="{0D108BD9-81ED-4DB2-BD59-A6C34878D82A}">
                    <a16:rowId xmlns:a16="http://schemas.microsoft.com/office/drawing/2014/main" val="2201422365"/>
                  </a:ext>
                </a:extLst>
              </a:tr>
              <a:tr h="285750">
                <a:tc>
                  <a:txBody>
                    <a:bodyPr/>
                    <a:lstStyle/>
                    <a:p>
                      <a:r>
                        <a:rPr sz="2000" b="1" dirty="0"/>
                        <a:t>Screen Time (</a:t>
                      </a:r>
                      <a:r>
                        <a:rPr sz="2000" b="1" dirty="0" err="1"/>
                        <a:t>hrs</a:t>
                      </a:r>
                      <a:r>
                        <a:rPr sz="2000" b="1" dirty="0"/>
                        <a:t>)</a:t>
                      </a:r>
                    </a:p>
                  </a:txBody>
                  <a:tcPr/>
                </a:tc>
                <a:tc>
                  <a:txBody>
                    <a:bodyPr/>
                    <a:lstStyle/>
                    <a:p>
                      <a:r>
                        <a:rPr sz="1800" b="1" dirty="0"/>
                        <a:t>The total time spent on screens, including social media, entertainment, and work/study-related activities.</a:t>
                      </a:r>
                    </a:p>
                  </a:txBody>
                  <a:tcPr/>
                </a:tc>
                <a:extLst>
                  <a:ext uri="{0D108BD9-81ED-4DB2-BD59-A6C34878D82A}">
                    <a16:rowId xmlns:a16="http://schemas.microsoft.com/office/drawing/2014/main" val="22859220"/>
                  </a:ext>
                </a:extLst>
              </a:tr>
              <a:tr h="285750">
                <a:tc>
                  <a:txBody>
                    <a:bodyPr/>
                    <a:lstStyle/>
                    <a:p>
                      <a:r>
                        <a:rPr sz="2000" b="1" dirty="0"/>
                        <a:t>Social Media Fatigue Level (1-10)</a:t>
                      </a:r>
                    </a:p>
                  </a:txBody>
                  <a:tcPr/>
                </a:tc>
                <a:tc>
                  <a:txBody>
                    <a:bodyPr/>
                    <a:lstStyle/>
                    <a:p>
                      <a:r>
                        <a:rPr sz="1800" b="1" dirty="0"/>
                        <a:t>A self-reported score on how exhausted a person feels from using social media. (Scale: 1 = Low Fatigue, 10 = High Fatigue)</a:t>
                      </a:r>
                    </a:p>
                  </a:txBody>
                  <a:tcPr/>
                </a:tc>
                <a:extLst>
                  <a:ext uri="{0D108BD9-81ED-4DB2-BD59-A6C34878D82A}">
                    <a16:rowId xmlns:a16="http://schemas.microsoft.com/office/drawing/2014/main" val="2319042840"/>
                  </a:ext>
                </a:extLst>
              </a:tr>
              <a:tr h="285750">
                <a:tc>
                  <a:txBody>
                    <a:bodyPr/>
                    <a:lstStyle/>
                    <a:p>
                      <a:r>
                        <a:rPr sz="2000" b="1" dirty="0"/>
                        <a:t>Digital Well-being Awareness</a:t>
                      </a:r>
                    </a:p>
                  </a:txBody>
                  <a:tcPr/>
                </a:tc>
                <a:tc>
                  <a:txBody>
                    <a:bodyPr/>
                    <a:lstStyle/>
                    <a:p>
                      <a:r>
                        <a:rPr sz="1800" b="1" dirty="0"/>
                        <a:t>Indicates whether the person is aware of digital well-being tools like screen time limits and focus modes.</a:t>
                      </a:r>
                    </a:p>
                  </a:txBody>
                  <a:tcPr/>
                </a:tc>
                <a:extLst>
                  <a:ext uri="{0D108BD9-81ED-4DB2-BD59-A6C34878D82A}">
                    <a16:rowId xmlns:a16="http://schemas.microsoft.com/office/drawing/2014/main" val="528580759"/>
                  </a:ext>
                </a:extLst>
              </a:tr>
              <a:tr h="285750">
                <a:tc>
                  <a:txBody>
                    <a:bodyPr/>
                    <a:lstStyle/>
                    <a:p>
                      <a:r>
                        <a:rPr sz="2000" b="1" dirty="0"/>
                        <a:t>Tech Savviness Level (1-10)</a:t>
                      </a:r>
                    </a:p>
                  </a:txBody>
                  <a:tcPr/>
                </a:tc>
                <a:tc>
                  <a:txBody>
                    <a:bodyPr/>
                    <a:lstStyle/>
                    <a:p>
                      <a:r>
                        <a:rPr sz="1800" b="1" dirty="0"/>
                        <a:t>A self-reported score of how comfortable the individual is with technology (1 = Low, 10 = High).</a:t>
                      </a:r>
                    </a:p>
                  </a:txBody>
                  <a:tcPr/>
                </a:tc>
                <a:extLst>
                  <a:ext uri="{0D108BD9-81ED-4DB2-BD59-A6C34878D82A}">
                    <a16:rowId xmlns:a16="http://schemas.microsoft.com/office/drawing/2014/main" val="3903989773"/>
                  </a:ext>
                </a:extLst>
              </a:tr>
              <a:tr h="285750">
                <a:tc>
                  <a:txBody>
                    <a:bodyPr/>
                    <a:lstStyle/>
                    <a:p>
                      <a:r>
                        <a:rPr sz="2000" b="1" dirty="0"/>
                        <a:t>Monthly Expenditure on Entertainment (USD</a:t>
                      </a:r>
                      <a:r>
                        <a:rPr sz="2000" b="1" dirty="0" smtClean="0"/>
                        <a:t>)</a:t>
                      </a:r>
                      <a:endParaRPr lang="en-GB" sz="2000" b="1" dirty="0" smtClean="0"/>
                    </a:p>
                    <a:p>
                      <a:endParaRPr sz="2000" b="1" dirty="0"/>
                    </a:p>
                  </a:txBody>
                  <a:tcPr/>
                </a:tc>
                <a:tc>
                  <a:txBody>
                    <a:bodyPr/>
                    <a:lstStyle/>
                    <a:p>
                      <a:r>
                        <a:rPr sz="1800" b="1" dirty="0"/>
                        <a:t>The amount a person spends on digital entertainment platforms like Netflix, Spotify, or gaming subscriptions.</a:t>
                      </a:r>
                    </a:p>
                  </a:txBody>
                  <a:tcPr/>
                </a:tc>
                <a:extLst>
                  <a:ext uri="{0D108BD9-81ED-4DB2-BD59-A6C34878D82A}">
                    <a16:rowId xmlns:a16="http://schemas.microsoft.com/office/drawing/2014/main" val="366060621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163489106"/>
              </p:ext>
            </p:extLst>
          </p:nvPr>
        </p:nvGraphicFramePr>
        <p:xfrm>
          <a:off x="457199" y="5710083"/>
          <a:ext cx="8229600" cy="914400"/>
        </p:xfrm>
        <a:graphic>
          <a:graphicData uri="http://schemas.openxmlformats.org/drawingml/2006/table">
            <a:tbl>
              <a:tblPr firstRow="1" bandRow="1">
                <a:tableStyleId>{5C22544A-7EE6-4342-B048-85BDC9FD1C3A}</a:tableStyleId>
              </a:tblPr>
              <a:tblGrid>
                <a:gridCol w="2738285">
                  <a:extLst>
                    <a:ext uri="{9D8B030D-6E8A-4147-A177-3AD203B41FA5}">
                      <a16:colId xmlns:a16="http://schemas.microsoft.com/office/drawing/2014/main" val="4012100160"/>
                    </a:ext>
                  </a:extLst>
                </a:gridCol>
                <a:gridCol w="5491315">
                  <a:extLst>
                    <a:ext uri="{9D8B030D-6E8A-4147-A177-3AD203B41FA5}">
                      <a16:colId xmlns:a16="http://schemas.microsoft.com/office/drawing/2014/main" val="769843099"/>
                    </a:ext>
                  </a:extLst>
                </a:gridCol>
              </a:tblGrid>
              <a:tr h="370840">
                <a:tc>
                  <a:txBody>
                    <a:bodyPr/>
                    <a:lstStyle/>
                    <a:p>
                      <a:r>
                        <a:rPr sz="2000" b="1" dirty="0" smtClean="0">
                          <a:solidFill>
                            <a:schemeClr val="bg1"/>
                          </a:solidFill>
                        </a:rPr>
                        <a:t>Monthly </a:t>
                      </a:r>
                      <a:r>
                        <a:rPr sz="2000" b="1" dirty="0">
                          <a:solidFill>
                            <a:schemeClr val="bg1"/>
                          </a:solidFill>
                        </a:rPr>
                        <a:t>Income (USD)</a:t>
                      </a:r>
                    </a:p>
                  </a:txBody>
                  <a:tcPr>
                    <a:solidFill>
                      <a:schemeClr val="accent1">
                        <a:lumMod val="20000"/>
                        <a:lumOff val="80000"/>
                      </a:schemeClr>
                    </a:solidFill>
                  </a:tcPr>
                </a:tc>
                <a:tc>
                  <a:txBody>
                    <a:bodyPr/>
                    <a:lstStyle/>
                    <a:p>
                      <a:r>
                        <a:rPr b="1" dirty="0">
                          <a:solidFill>
                            <a:schemeClr val="bg1"/>
                          </a:solidFill>
                        </a:rPr>
                        <a:t>The individual's income, which helps analyze whether higher-income individuals spend more on entertainment or social media.</a:t>
                      </a:r>
                    </a:p>
                  </a:txBody>
                  <a:tcPr>
                    <a:solidFill>
                      <a:schemeClr val="accent1">
                        <a:lumMod val="20000"/>
                        <a:lumOff val="80000"/>
                      </a:schemeClr>
                    </a:solidFill>
                  </a:tcPr>
                </a:tc>
                <a:extLst>
                  <a:ext uri="{0D108BD9-81ED-4DB2-BD59-A6C34878D82A}">
                    <a16:rowId xmlns:a16="http://schemas.microsoft.com/office/drawing/2014/main" val="3690037826"/>
                  </a:ext>
                </a:extLst>
              </a:tr>
            </a:tbl>
          </a:graphicData>
        </a:graphic>
      </p:graphicFrame>
      <p:graphicFrame>
        <p:nvGraphicFramePr>
          <p:cNvPr id="5" name="Table 4"/>
          <p:cNvGraphicFramePr>
            <a:graphicFrameLocks noGrp="1"/>
          </p:cNvGraphicFramePr>
          <p:nvPr/>
        </p:nvGraphicFramePr>
        <p:xfrm>
          <a:off x="-19665" y="3048000"/>
          <a:ext cx="208280" cy="365760"/>
        </p:xfrm>
        <a:graphic>
          <a:graphicData uri="http://schemas.openxmlformats.org/drawingml/2006/table">
            <a:tbl>
              <a:tblPr/>
              <a:tblGrid>
                <a:gridCol w="208280">
                  <a:extLst>
                    <a:ext uri="{9D8B030D-6E8A-4147-A177-3AD203B41FA5}">
                      <a16:colId xmlns:a16="http://schemas.microsoft.com/office/drawing/2014/main" val="284084586"/>
                    </a:ext>
                  </a:extLst>
                </a:gridCol>
              </a:tblGrid>
              <a:tr h="0">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92575095"/>
                  </a:ext>
                </a:extLst>
              </a:tr>
            </a:tbl>
          </a:graphicData>
        </a:graphic>
      </p:graphicFrame>
    </p:spTree>
    <p:extLst>
      <p:ext uri="{BB962C8B-B14F-4D97-AF65-F5344CB8AC3E}">
        <p14:creationId xmlns:p14="http://schemas.microsoft.com/office/powerpoint/2010/main" val="35540716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t>Project Objectives &amp; Expected Insights</a:t>
            </a:r>
          </a:p>
        </p:txBody>
      </p:sp>
      <p:sp>
        <p:nvSpPr>
          <p:cNvPr id="3" name="Content Placeholder 2"/>
          <p:cNvSpPr>
            <a:spLocks noGrp="1"/>
          </p:cNvSpPr>
          <p:nvPr>
            <p:ph idx="1"/>
          </p:nvPr>
        </p:nvSpPr>
        <p:spPr/>
        <p:txBody>
          <a:bodyPr/>
          <a:lstStyle/>
          <a:p>
            <a:r>
              <a:t>✅ Analyze digital habits across demographics</a:t>
            </a:r>
          </a:p>
          <a:p>
            <a:r>
              <a:t>✅ Identify correlations between income, screen time, and entertainment spending</a:t>
            </a:r>
          </a:p>
          <a:p>
            <a:r>
              <a:t>✅ Evaluate social media fatigue and its impact on digital well-being</a:t>
            </a:r>
          </a:p>
          <a:p>
            <a:r>
              <a:t>✅ Understand platform engagement and user preferences</a:t>
            </a:r>
          </a:p>
          <a:p>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Technologies &amp; Libraries Used</a:t>
            </a:r>
          </a:p>
        </p:txBody>
      </p:sp>
      <p:sp>
        <p:nvSpPr>
          <p:cNvPr id="3" name="Content Placeholder 2"/>
          <p:cNvSpPr>
            <a:spLocks noGrp="1"/>
          </p:cNvSpPr>
          <p:nvPr>
            <p:ph idx="1"/>
          </p:nvPr>
        </p:nvSpPr>
        <p:spPr>
          <a:xfrm>
            <a:off x="827699" y="2052925"/>
            <a:ext cx="7982003" cy="4195481"/>
          </a:xfrm>
        </p:spPr>
        <p:txBody>
          <a:bodyPr>
            <a:normAutofit/>
          </a:bodyPr>
          <a:lstStyle/>
          <a:p>
            <a:r>
              <a:rPr sz="2400" dirty="0"/>
              <a:t>• </a:t>
            </a:r>
            <a:r>
              <a:rPr sz="2400" b="1" dirty="0"/>
              <a:t>**Pandas** </a:t>
            </a:r>
            <a:r>
              <a:rPr sz="2400" dirty="0"/>
              <a:t>– Data preprocessing and </a:t>
            </a:r>
            <a:r>
              <a:rPr lang="en-GB" sz="2400" dirty="0" smtClean="0"/>
              <a:t> </a:t>
            </a:r>
            <a:r>
              <a:rPr sz="2400" dirty="0" smtClean="0"/>
              <a:t>manipulation</a:t>
            </a:r>
            <a:endParaRPr sz="2400" dirty="0"/>
          </a:p>
          <a:p>
            <a:r>
              <a:rPr sz="2400" dirty="0"/>
              <a:t>• </a:t>
            </a:r>
            <a:r>
              <a:rPr sz="2400" b="1" dirty="0"/>
              <a:t>**</a:t>
            </a:r>
            <a:r>
              <a:rPr sz="2400" b="1" dirty="0" err="1"/>
              <a:t>NumPy</a:t>
            </a:r>
            <a:r>
              <a:rPr sz="2400" b="1" dirty="0"/>
              <a:t>** </a:t>
            </a:r>
            <a:r>
              <a:rPr sz="2400" dirty="0"/>
              <a:t>– Numerical analysis</a:t>
            </a:r>
          </a:p>
          <a:p>
            <a:r>
              <a:rPr sz="2400" dirty="0"/>
              <a:t>• </a:t>
            </a:r>
            <a:r>
              <a:rPr sz="2400" b="1" dirty="0"/>
              <a:t>**</a:t>
            </a:r>
            <a:r>
              <a:rPr sz="2400" b="1" dirty="0" err="1"/>
              <a:t>Matplotlib</a:t>
            </a:r>
            <a:r>
              <a:rPr sz="2400" b="1" dirty="0"/>
              <a:t> &amp; </a:t>
            </a:r>
            <a:r>
              <a:rPr sz="2400" b="1" dirty="0" err="1"/>
              <a:t>Seaborn</a:t>
            </a:r>
            <a:r>
              <a:rPr sz="2400" b="1" dirty="0"/>
              <a:t>** </a:t>
            </a:r>
            <a:r>
              <a:rPr sz="2400" dirty="0"/>
              <a:t>– Data visualization</a:t>
            </a:r>
          </a:p>
          <a:p>
            <a:r>
              <a:rPr sz="2400" dirty="0"/>
              <a:t>• </a:t>
            </a:r>
            <a:r>
              <a:rPr sz="2400" b="1" dirty="0"/>
              <a:t>**</a:t>
            </a:r>
            <a:r>
              <a:rPr sz="2400" b="1" dirty="0" err="1"/>
              <a:t>Streamlit</a:t>
            </a:r>
            <a:r>
              <a:rPr sz="2400" b="1" dirty="0"/>
              <a:t>** </a:t>
            </a:r>
            <a:r>
              <a:rPr sz="2400" dirty="0"/>
              <a:t>– Interactive dashboard creation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3" name="Content Placeholder 2"/>
          <p:cNvSpPr>
            <a:spLocks noGrp="1"/>
          </p:cNvSpPr>
          <p:nvPr>
            <p:ph idx="1"/>
          </p:nvPr>
        </p:nvSpPr>
        <p:spPr/>
        <p:txBody>
          <a:bodyPr/>
          <a:lstStyle/>
          <a:p>
            <a:r>
              <a:t>This project provides an in-depth look at how individuals interact with digital platforms. By using data-driven insights, we can better understand the effects of screen time on well-being and financial habits. The final dashboard will allow for interactive exploration of key findings.</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62</TotalTime>
  <Words>636</Words>
  <Application>Microsoft Office PowerPoint</Application>
  <PresentationFormat>On-screen Show (4:3)</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vt:lpstr>
      <vt:lpstr>Digital Habits Analysis Dashboard</vt:lpstr>
      <vt:lpstr>Project Overview</vt:lpstr>
      <vt:lpstr>Dataset Description</vt:lpstr>
      <vt:lpstr>Key Selected Columns</vt:lpstr>
      <vt:lpstr>PowerPoint Presentation</vt:lpstr>
      <vt:lpstr>PowerPoint Presentation</vt:lpstr>
      <vt:lpstr>PowerPoint Presentation</vt:lpstr>
      <vt:lpstr>Project Objectives &amp; Expected Insights</vt:lpstr>
      <vt:lpstr>Technologies &amp; Libraries Used</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Habits Analysis Dashboard</dc:title>
  <dc:subject/>
  <dc:creator>Micro</dc:creator>
  <cp:keywords/>
  <dc:description>generated using python-pptx</dc:description>
  <cp:lastModifiedBy>Micro</cp:lastModifiedBy>
  <cp:revision>8</cp:revision>
  <dcterms:created xsi:type="dcterms:W3CDTF">2013-01-27T09:14:16Z</dcterms:created>
  <dcterms:modified xsi:type="dcterms:W3CDTF">2025-02-10T18:12:21Z</dcterms:modified>
  <cp:category/>
</cp:coreProperties>
</file>